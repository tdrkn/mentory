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72"/>
    <p:restoredTop sz="94645"/>
  </p:normalViewPr>
  <p:slideViewPr>
    <p:cSldViewPr snapToGrid="0" snapToObjects="1">
      <p:cViewPr varScale="1">
        <p:scale>
          <a:sx n="86" d="100"/>
          <a:sy n="86" d="100"/>
        </p:scale>
        <p:origin x="224" y="7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00" y="0"/>
            <a:ext cx="2133295" cy="6858000"/>
          </a:xfrm>
          <a:prstGeom prst="rect">
            <a:avLst/>
          </a:prstGeom>
          <a:solidFill>
            <a:srgbClr val="1A1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 Black"/>
              </a:defRPr>
            </a:pPr>
            <a:r>
              <a:t>Mentory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0E0E0"/>
                </a:solidFill>
                <a:latin typeface="Calibri"/>
              </a:rPr>
              <a:t>Платформа для подбора менторов
и проведения онлайн-консультаций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77639"/>
            <a:ext cx="22860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Calibri"/>
              </a:defRPr>
            </a:pPr>
            <a:r>
              <a:t>НИУ ВШЭ  ·  Бизнес-информатика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6459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96167"/>
                </a:solidFill>
                <a:latin typeface="Arial Black"/>
              </a:defRPr>
            </a:pPr>
            <a: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0E0E0"/>
                </a:solidFill>
                <a:latin typeface="Calibri"/>
              </a:rPr>
              <a:t>неудач стартапов
связаны с неверными
рыночными гипотезами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1463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60A5FA"/>
                </a:solidFill>
                <a:latin typeface="Arial Black"/>
              </a:defRPr>
            </a:pPr>
            <a:r>
              <a:t>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2743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0E0E0"/>
                </a:solidFill>
                <a:latin typeface="Calibri"/>
              </a:rPr>
              <a:t>стартаперов считают
свой продукт уникальным,
хотя аналоги существуют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50E360"/>
                </a:solidFill>
                <a:latin typeface="Arial Black"/>
              </a:defRPr>
            </a:pPr>
            <a:r>
              <a:t>29%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743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0E0E0"/>
                </a:solidFill>
                <a:latin typeface="Calibri"/>
              </a:rPr>
              <a:t>стартапов испытывают
нехватку финансирования
из-за отсутствия экспертизы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2651760" cy="20116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Ментии избегают менторскую поддержку, боясь не совпасть характерами с ментором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206240"/>
            <a:ext cx="2651760" cy="20116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4389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Сложно найти подходящего специалиста в определённой области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4206240"/>
            <a:ext cx="2651760" cy="20116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389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Каждый 3-й студент не знает, по какой специальности будет работать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4206240"/>
            <a:ext cx="2651760" cy="20116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599" y="4389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Отсутствие реальной экспертизы рынка — главная боль стартапов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Решение: Mentory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Веб-платформа, соединяющая менторов и менти для проведения</a:t>
            </a:r>
            <a:br/>
            <a:r>
              <a:t>онлайн-консультаций по карьерным и профессиональным вопросам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029200" cy="16459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64008" cy="1645920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Поиск ментора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Умный поиск по навыкам, сфере деятельности, должности, стоимости и рейтингу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029200" cy="16459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468880"/>
            <a:ext cx="64008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Онлайн-консультации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154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Чат и видеозвонки между ментором и менти с гибким расписанием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029200" cy="16459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64008" cy="1645920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Гибкая оплата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166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Разовые консультации или подписка с фиксированным количеством сессий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80560"/>
            <a:ext cx="5029200" cy="16459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4480560"/>
            <a:ext cx="64008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Верификация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51663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Проверка регалий менторов администраторами для гарантии качества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Цели и метрики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035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Привлечение пользователей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39" y="205740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60"/>
                </a:solidFill>
                <a:latin typeface="Arial Black"/>
              </a:defRPr>
            </a:pPr>
            <a:r>
              <a:rPr dirty="0"/>
              <a:t>500 </a:t>
            </a:r>
            <a:r>
              <a:rPr dirty="0" err="1"/>
              <a:t>менти</a:t>
            </a:r>
            <a:r>
              <a:rPr dirty="0"/>
              <a:t> + 50 </a:t>
            </a:r>
            <a:r>
              <a:rPr dirty="0" err="1"/>
              <a:t>менторов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регистрации за первые 6 мес.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60"/>
                </a:solidFill>
                <a:latin typeface="Arial Black"/>
              </a:defRPr>
            </a:pPr>
            <a:r>
              <a:t>20%+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конверсия посетителей в регистрацию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0352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303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Удержание пользователей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Arial Black"/>
              </a:defRPr>
            </a:pPr>
            <a:r>
              <a:t>40%+ менти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посетили более 2 консультаций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Arial Black"/>
              </a:defRPr>
            </a:pPr>
            <a:r>
              <a:t>70%+ менторов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активны (&gt;1 консультации/мес.)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53035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Удовлетворённость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60"/>
                </a:solidFill>
                <a:latin typeface="Arial Black"/>
              </a:defRPr>
            </a:pPr>
            <a:r>
              <a:t>NPS &gt; 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в течение 6 мес. после запуска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60"/>
                </a:solidFill>
                <a:latin typeface="Arial Black"/>
              </a:defRPr>
            </a:pPr>
            <a:r>
              <a:t>75% пар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521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бронируют повторную сессию за 60 дней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4114800"/>
            <a:ext cx="5303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Финансовые показатели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Arial Black"/>
              </a:defRPr>
            </a:pPr>
            <a:r>
              <a:t>300 тыс. ₽/мес.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минимальная выручка через 6 мес.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Arial Black"/>
              </a:defRPr>
            </a:pPr>
            <a:r>
              <a:t>1 год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8521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выход на безубыточность (OPEX = Revenue)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Целевая аудитория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5603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0F3D"/>
                </a:solidFill>
                <a:latin typeface="Arial Black"/>
              </a:defRPr>
            </a:pPr>
            <a:r>
              <a:t>МЕНТИ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50E360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Молодые специалисты и студенты, не определившиеся с карьерой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0E360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Специалисты, желающие сменить профессиональную область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0E360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Стартаперы и предприниматели на стадии запуска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50E360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Люди с карьерной целью, ищущие регулярную поддержку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E360"/>
                </a:solidFill>
                <a:latin typeface="Calibri"/>
              </a:defRPr>
            </a:pPr>
            <a:r>
              <a:t>Боли: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F96167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Тяжело найти компетентных менторов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96167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Нет российского аналога для обмена опытом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F96167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Непроверенная информация и завышенные ожидания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МЕНТОРЫ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Специалисты крупных и средних компаний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Менторы студенческих и школьных проектов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Преподаватели в профориентации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●  </a:t>
            </a:r>
            <a:r>
              <a:rPr sz="1300">
                <a:solidFill>
                  <a:srgbClr val="FFFFFF"/>
                </a:solidFill>
                <a:latin typeface="Calibri"/>
              </a:rPr>
              <a:t>Эксперты из IT, юридической, социальной сфер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Мотивация: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63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60A5FA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Дополнительный доход от менторства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60A5FA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Повышение личной экспертности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60A5FA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Социальная значимость и помощь другим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Функциональность MVP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92608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Регистрация и профили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Email + пароль, выбор роли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Структурированные профили ментора/менти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Навыки, сферы, достижения, хобби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Поиск менторов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Фильтрация по навыкам и сферам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Сортировка по рейтингу и стоимости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Просмотр детального профиля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38328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Запись и оплата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Разовые консультации и подписки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Выбор временных слотов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Интеграция с платёжной системой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Встроенный чат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Real-time обмен сообщениями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WebSocket + Redis pub/sub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Уведомления о новых сообщениях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4114800"/>
            <a:ext cx="338328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Отзывы и рейтинг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09160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Оценка ментора после сессии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Рейтинг на основе отзывов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Один отзыв на пару ментор-менти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411480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Администрирование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709160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Верификация регалий менторов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Модерация контента и профилей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Обработка жалоб пользователей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Пользовательские сценарии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16 User Stories и 21 Use Case обеспечивают полный цикл взаимодействия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128016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4008" cy="1280160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E360"/>
                </a:solidFill>
                <a:latin typeface="Calibri"/>
              </a:defRPr>
            </a:pPr>
            <a:r>
              <a:t>UC5: Поиск ментора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Менти задаёт фильтры (навыки, цена,
рейтинг, сфера) → система показывает
подходящих менторов в виде карточек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303520" cy="128016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64008" cy="1280160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E360"/>
                </a:solidFill>
                <a:latin typeface="Calibri"/>
              </a:defRPr>
            </a:pPr>
            <a:r>
              <a:t>UC7: Запись на сессию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31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Менти выбирает услугу → слот →
оплата через эквайринг →
автоматическое подтверждение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5303520" cy="128016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5029200"/>
            <a:ext cx="64008" cy="1280160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120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E360"/>
                </a:solidFill>
                <a:latin typeface="Calibri"/>
              </a:defRPr>
            </a:pPr>
            <a:r>
              <a:t>UC8: Подписка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864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Менти подаёт заявку → ментор
одобряет → оплата → фиксированное
кол-во сессий в месяц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20240"/>
            <a:ext cx="5303520" cy="128016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920240"/>
            <a:ext cx="64008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UC15: Встроенный чат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Realtime обмен текстовыми сообщениями
через WebSocket + Redis pub/sub
между ментором и менти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303520" cy="128016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474720"/>
            <a:ext cx="64008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UC12: Отзыв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31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Менти ставит оценку 1-5 + комментарий
только после проведённой сессии.
Один отзыв на пару ментор-менти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029200"/>
            <a:ext cx="5303520" cy="128016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5029200"/>
            <a:ext cx="64008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5120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UC21: Верификация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864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0E0"/>
                </a:solidFill>
                <a:latin typeface="Calibri"/>
              </a:rPr>
              <a:t>Ментор загружает PDF → админ проверяет
→ бейдж «Верифицирован» или
отказ с причиной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Все процессы детализированы в BPMN 2.0: получение услуги, обработка заявок, заполнение профиля, проведение сессии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0F3D"/>
                </a:solidFill>
                <a:latin typeface="Arial Black"/>
              </a:defRPr>
            </a:pPr>
            <a:r>
              <a:t>Макеты интерфейса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5603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Интерактивный прототип покрывает ключевой сценарий: от поиска ментора до записи на консультацию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51760" cy="41148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4688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  <a:latin typeface="Calibri"/>
              </a:rPr>
              <a:t>Каталог менторов
Поиск с фильтрами,
карточки менторов
с рейтингом и ценой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03120"/>
            <a:ext cx="2651760" cy="41148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74720" y="2377440"/>
            <a:ext cx="24688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  <a:latin typeface="Calibri"/>
              </a:rPr>
              <a:t>Профиль ментора
Детальная информация,
услуги, подписки,
отзывы, достижения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2651760" cy="41148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24688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  <a:latin typeface="Calibri"/>
              </a:rPr>
              <a:t>Запись на сессию
Выбор услуги и слота,
заполнение заявки,
оплата через эквайринг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651760" cy="41148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326880" y="2377440"/>
            <a:ext cx="24688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74320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444444"/>
                </a:solidFill>
                <a:latin typeface="Calibri"/>
              </a:rPr>
              <a:t>Личный кабинет
Мои сессии, чат,
финансы, управление
слотами (для менторов)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Вставьте сюда скриншоты из Figma — каталог, профиль ментора, запись, ЛК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Как это работает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0F0F3D"/>
                </a:solidFill>
                <a:latin typeface="Arial Black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2212848"/>
            <a:ext cx="457200" cy="54864"/>
          </a:xfrm>
          <a:prstGeom prst="rect">
            <a:avLst/>
          </a:prstGeom>
          <a:solidFill>
            <a:srgbClr val="6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Регистрация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E0E0E0"/>
                </a:solidFill>
                <a:latin typeface="Calibri"/>
              </a:rPr>
              <a:t>Создайте аккаунт
и заполните профиль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18288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0F0F3D"/>
                </a:solidFill>
                <a:latin typeface="Arial Black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2212848"/>
            <a:ext cx="457200" cy="54864"/>
          </a:xfrm>
          <a:prstGeom prst="rect">
            <a:avLst/>
          </a:prstGeom>
          <a:solidFill>
            <a:srgbClr val="6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2926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Поиск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E0E0E0"/>
                </a:solidFill>
                <a:latin typeface="Calibri"/>
              </a:rPr>
              <a:t>Найдите ментора
по вашим критериям</a:t>
            </a:r>
          </a:p>
        </p:txBody>
      </p:sp>
      <p:sp>
        <p:nvSpPr>
          <p:cNvPr id="12" name="Oval 11"/>
          <p:cNvSpPr/>
          <p:nvPr/>
        </p:nvSpPr>
        <p:spPr>
          <a:xfrm>
            <a:off x="4709160" y="1828800"/>
            <a:ext cx="914400" cy="91440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0F0F3D"/>
                </a:solidFill>
                <a:latin typeface="Arial Black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2212848"/>
            <a:ext cx="457200" cy="54864"/>
          </a:xfrm>
          <a:prstGeom prst="rect">
            <a:avLst/>
          </a:prstGeom>
          <a:solidFill>
            <a:srgbClr val="6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2926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Запись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E0E0E0"/>
                </a:solidFill>
                <a:latin typeface="Calibri"/>
              </a:rPr>
              <a:t>Выберите слот
и оформите заявку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18288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0F0F3D"/>
                </a:solidFill>
                <a:latin typeface="Arial Black"/>
              </a:rP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2212848"/>
            <a:ext cx="457200" cy="54864"/>
          </a:xfrm>
          <a:prstGeom prst="rect">
            <a:avLst/>
          </a:prstGeom>
          <a:solidFill>
            <a:srgbClr val="6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Оплата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E0E0E0"/>
                </a:solidFill>
                <a:latin typeface="Calibri"/>
              </a:rPr>
              <a:t>Оплатите разово
или оформите подписку</a:t>
            </a:r>
          </a:p>
        </p:txBody>
      </p:sp>
      <p:sp>
        <p:nvSpPr>
          <p:cNvPr id="20" name="Oval 19"/>
          <p:cNvSpPr/>
          <p:nvPr/>
        </p:nvSpPr>
        <p:spPr>
          <a:xfrm>
            <a:off x="8549640" y="1828800"/>
            <a:ext cx="914400" cy="91440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0F0F3D"/>
                </a:solidFill>
                <a:latin typeface="Arial Black"/>
              </a:rP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2212848"/>
            <a:ext cx="457200" cy="54864"/>
          </a:xfrm>
          <a:prstGeom prst="rect">
            <a:avLst/>
          </a:prstGeom>
          <a:solidFill>
            <a:srgbClr val="6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2926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Консультация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E0E0E0"/>
                </a:solidFill>
                <a:latin typeface="Calibri"/>
              </a:rPr>
              <a:t>Свяжитесь через чат
и проведите сессию</a:t>
            </a:r>
          </a:p>
        </p:txBody>
      </p:sp>
      <p:sp>
        <p:nvSpPr>
          <p:cNvPr id="24" name="Oval 23"/>
          <p:cNvSpPr/>
          <p:nvPr/>
        </p:nvSpPr>
        <p:spPr>
          <a:xfrm>
            <a:off x="10469880" y="18288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800"/>
              </a:spcBef>
            </a:pPr>
            <a:r>
              <a:rPr sz="2800" b="1">
                <a:solidFill>
                  <a:srgbClr val="0F0F3D"/>
                </a:solidFill>
                <a:latin typeface="Arial Black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926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Отзыв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337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E0E0E0"/>
                </a:solidFill>
                <a:latin typeface="Calibri"/>
              </a:rPr>
              <a:t>Оцените ментора
и поделитесь опытом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Два формата взаимодействия: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663440"/>
            <a:ext cx="5029200" cy="1828800"/>
          </a:xfrm>
          <a:prstGeom prst="roundRect">
            <a:avLst/>
          </a:prstGeom>
          <a:solidFill>
            <a:srgbClr val="15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Разовая консультация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166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Менти выбирает услугу и слот → оплата → автоматическое подтверждение → проведение сессии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63440"/>
            <a:ext cx="5029200" cy="1828800"/>
          </a:xfrm>
          <a:prstGeom prst="round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Подписка на менторство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66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Менти подаёт заявку → ментор одобряет → оплата → фиксированное кол-во сессий в месяц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Анализ конкурентов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5603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60"/>
                </a:solidFill>
                <a:latin typeface="Calibri"/>
              </a:defRPr>
            </a:pPr>
            <a:r>
              <a:t>Зарубежный рынок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148840" cy="123444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GrowthMentor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0E0E0"/>
                </a:solidFill>
                <a:latin typeface="Calibri"/>
              </a:rPr>
              <a:t>Стартаперы, маркетологи
Фиксированная оплата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783080"/>
            <a:ext cx="2148840" cy="123444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Codementor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19456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0E0E0"/>
                </a:solidFill>
                <a:latin typeface="Calibri"/>
              </a:rPr>
              <a:t>Программисты, IT
Мгновенная помощь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2148840" cy="123444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Clarity.fm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0E0E0"/>
                </a:solidFill>
                <a:latin typeface="Calibri"/>
              </a:rPr>
              <a:t>Бизнес-консультации
Платные звонки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246120"/>
            <a:ext cx="2148840" cy="123444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3375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ADPList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6576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0E0E0"/>
                </a:solidFill>
                <a:latin typeface="Calibri"/>
              </a:rPr>
              <a:t>Дизайн, продакт
Бесплатный доступ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E360"/>
                </a:solidFill>
                <a:latin typeface="Calibri"/>
              </a:defRPr>
            </a:pPr>
            <a:r>
              <a:t>Российский рынок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2148840" cy="9144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GetMentor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035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0E0E0"/>
                </a:solidFill>
                <a:latin typeface="Calibri"/>
              </a:rPr>
              <a:t>IT, 2000+ менторов, не обновл. с 2022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4937760"/>
            <a:ext cx="2148840" cy="9144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46120" y="49834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Сетка (hh.ru)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3035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0E0E0"/>
                </a:solidFill>
                <a:latin typeface="Calibri"/>
              </a:rPr>
              <a:t>Нетворкинг, скорее соцсеть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371600"/>
            <a:ext cx="5486400" cy="4572000"/>
          </a:xfrm>
          <a:prstGeom prst="roundRect">
            <a:avLst/>
          </a:prstGeom>
          <a:solidFill>
            <a:srgbClr val="15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15544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Рынок решений в</a:t>
            </a:r>
            <a:br/>
            <a:r>
              <a:t>России крайне мал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60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Многие стартапы в РФ не дошли до конечного результата. Существуют только косвенные аналоги.</a:t>
            </a:r>
            <a:br/>
            <a:br/>
            <a:r>
              <a:t>На рынке присутствует возможность для роста. Характерная проблема — непопулярность существующих решений и сложность в поиске подходящих менторов.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E360"/>
                </a:solidFill>
                <a:latin typeface="Calibri"/>
              </a:defRPr>
            </a:pPr>
            <a:r>
              <a:t>Наши преимущества: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63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50E360"/>
                </a:solidFill>
                <a:latin typeface="Calibri"/>
              </a:rPr>
              <a:t>●  </a:t>
            </a:r>
            <a:r>
              <a:rPr sz="1100">
                <a:solidFill>
                  <a:srgbClr val="FFFFFF"/>
                </a:solidFill>
                <a:latin typeface="Calibri"/>
              </a:rPr>
              <a:t>Бесплатная менторская поддержка + платные услуги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50E360"/>
                </a:solidFill>
                <a:latin typeface="Calibri"/>
              </a:rPr>
              <a:t>●  </a:t>
            </a:r>
            <a:r>
              <a:rPr sz="1100">
                <a:solidFill>
                  <a:srgbClr val="FFFFFF"/>
                </a:solidFill>
                <a:latin typeface="Calibri"/>
              </a:rPr>
              <a:t>Широкая специализация (IT, юридический, социальный, карьерный треки)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50E360"/>
                </a:solidFill>
                <a:latin typeface="Calibri"/>
              </a:rPr>
              <a:t>●  </a:t>
            </a:r>
            <a:r>
              <a:rPr sz="1100">
                <a:solidFill>
                  <a:srgbClr val="FFFFFF"/>
                </a:solidFill>
                <a:latin typeface="Calibri"/>
              </a:rPr>
              <a:t>Геймификация для выбора ментора (свайп-формат, фильтрация)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Объём рынка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E360"/>
                </a:solidFill>
                <a:latin typeface="Calibri"/>
              </a:defRPr>
            </a:pPr>
            <a:r>
              <a:t>Рынок менти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43891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PAM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60"/>
                </a:solidFill>
                <a:latin typeface="Calibri"/>
              </a:defRPr>
            </a:pPr>
            <a:r>
              <a:t>1 млрд.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Глобальный рынок менторских платформ к 2027 году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60"/>
                </a:solidFill>
                <a:latin typeface="Calibri"/>
              </a:defRPr>
            </a:pPr>
            <a:r>
              <a:t>1.3 млрд.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10% от 4.4 млн молодых предпринимателей в России = 440 000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60"/>
                </a:solidFill>
                <a:latin typeface="Calibri"/>
              </a:defRPr>
            </a:pPr>
            <a:r>
              <a:t>550 млн.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220 000 пользователей × 2 500 руб.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E360"/>
                </a:solidFill>
                <a:latin typeface="Calibri"/>
              </a:defRPr>
            </a:pPr>
            <a:r>
              <a:t>275 млн.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8.5% от SAM с учётом конкуренции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Рынок менторов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PAM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~2 трлн. 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33 млн менторов в мире × 61 500 руб./год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TAM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~64.5 млрд. 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1.05 млн специалистов с опытом в России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SAM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~6.46 млрд.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51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10% от потенциальных менторов = 105 000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SOM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~323 млн. 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66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5% от SAM = 5 250 менторов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Архитектура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sz="1200" b="1">
                <a:solidFill>
                  <a:srgbClr val="0F0F3D"/>
                </a:solidFill>
                <a:latin typeface="Calibri"/>
              </a:rPr>
              <a:t>Менти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146304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sz="1200" b="1">
                <a:solidFill>
                  <a:srgbClr val="0F0F3D"/>
                </a:solidFill>
                <a:latin typeface="Calibri"/>
              </a:rPr>
              <a:t>Ментор</a:t>
            </a:r>
          </a:p>
        </p:txBody>
      </p:sp>
      <p:sp>
        <p:nvSpPr>
          <p:cNvPr id="6" name="Oval 5"/>
          <p:cNvSpPr/>
          <p:nvPr/>
        </p:nvSpPr>
        <p:spPr>
          <a:xfrm>
            <a:off x="8686800" y="1463040"/>
            <a:ext cx="914400" cy="9144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sz="1200" b="1">
                <a:solidFill>
                  <a:srgbClr val="0F0F3D"/>
                </a:solidFill>
                <a:latin typeface="Calibri"/>
              </a:rPr>
              <a:t>Админ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9601200" cy="10972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 Black"/>
              </a:defRPr>
            </a:pPr>
            <a:r>
              <a:t>Mentory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286000" cy="10972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22860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Web App
(React)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389120"/>
            <a:ext cx="2926080" cy="10972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4389120"/>
            <a:ext cx="29260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4526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Backend API
(Модульный монолит)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389120"/>
            <a:ext cx="1828800" cy="10972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4389120"/>
            <a:ext cx="1828800" cy="54864"/>
          </a:xfrm>
          <a:prstGeom prst="rect">
            <a:avLst/>
          </a:prstGeom>
          <a:solidFill>
            <a:srgbClr val="33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79" y="45262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PostgreSQL
(Основная БД)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389120"/>
            <a:ext cx="1828800" cy="10972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95360" y="4389120"/>
            <a:ext cx="1828800" cy="54864"/>
          </a:xfrm>
          <a:prstGeom prst="rect">
            <a:avLst/>
          </a:prstGeom>
          <a:solidFill>
            <a:srgbClr val="DC3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Redis
(Кэш + Pub/Sub)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852160"/>
            <a:ext cx="2286000" cy="731520"/>
          </a:xfrm>
          <a:prstGeom prst="round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28800" y="5852160"/>
            <a:ext cx="54864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65960" y="5897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Платёжная
система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5852160"/>
            <a:ext cx="2286000" cy="731520"/>
          </a:xfrm>
          <a:prstGeom prst="round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0" y="5852160"/>
            <a:ext cx="54864" cy="7315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66360" y="5897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Email-сервис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5852160"/>
            <a:ext cx="2286000" cy="731520"/>
          </a:xfrm>
          <a:prstGeom prst="round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5852160"/>
            <a:ext cx="54864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5897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Object Storage
(Файлы)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Технические подробности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Решения, обеспечивающие надёжность и масштабируемость платформы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14173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1417320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60"/>
                </a:solidFill>
                <a:latin typeface="Calibri"/>
              </a:defRPr>
            </a:pPr>
            <a:r>
              <a:t>Защита от двойного бронирования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Redis-lock при записи на слот. Hold слота на 10 мин. во время оплаты.
Если оплата не прошла — слот автоматически освобождается.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14173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64008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Безопасность платежей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Платёжные данные не хранятся на платформе — всё на стороне эквайринга.
Webhook от провайдера подтверждает оплату → статусы обновляются за &lt;5 сек.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303520" cy="14173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64008" cy="1417320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60"/>
                </a:solidFill>
                <a:latin typeface="Calibri"/>
              </a:defRPr>
            </a:pPr>
            <a:r>
              <a:t>Realtime-чат (WebSocket + Redis)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31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JWT-аутентификация при подключении. Доступ только к своим диалогам.
Pub/Sub через Redis для мгновенной доставки. Typing-индикатор и read-receipts.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74720"/>
            <a:ext cx="5303520" cy="14173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474720"/>
            <a:ext cx="64008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Модульный монолит → микросервисы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31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Текущая архитектура: единый backend с чётким разделением на домены.
Позволяет быстро запустить MVP, а затем масштабировать в микросервисы.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5303520" cy="14173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64008" cy="1417320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E360"/>
                </a:solidFill>
                <a:latin typeface="Calibri"/>
              </a:defRPr>
            </a:pPr>
            <a:r>
              <a:t>Файловое хранение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778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Object Storage для фото, регалий и вложений жалоб.
В PostgreSQL — только метаданные и ссылки. Лёгкое масштабирование.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120640"/>
            <a:ext cx="5303520" cy="141732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5120640"/>
            <a:ext cx="64008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52120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Аудит и безопасность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5778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Все действия админов логируются (кто, что, когда, причина).
Ролевое разделение интерфейсов. Блокировка после 5 неудачных попыток входа.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Нефункциональные требования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4688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Usability (U1–U8)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Интерфейсы разделены по ролям: менти, ментор, админ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Навигация: любой раздел за ≤3 переходов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Валидация форм до сохранения, сохранение корректных полей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Явное подтверждение ключевых действий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4688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Reliability (R1–R8)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Исключение двойного бронирования слотов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Возврат слота при неуспешной оплате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Целостность данных: одна сессия = один статус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До 10 одновременных админов без потери данных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303520" cy="24688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53035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Performance (P1–P7)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634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Загрузка экранов: &lt;3 сек (95-й перцентиль)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Операции (сохранение, заявка): &lt;2 сек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Обновление после оплаты: &lt;5 сек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50E360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Доставка сообщения в чате: &lt;2 сек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5303520" cy="246888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4114800"/>
            <a:ext cx="53035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Supportability (S1–S6)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6634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Внешние сервисы: эквайринг, email, Object Storage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Платёжные данные не хранятся на платформе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Полный аудит действий администраторов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3B82F6"/>
                </a:solidFill>
                <a:latin typeface="Calibri"/>
              </a:rPr>
              <a:t>●  </a:t>
            </a:r>
            <a:r>
              <a:rPr sz="1200">
                <a:solidFill>
                  <a:srgbClr val="E0E0E0"/>
                </a:solidFill>
                <a:latin typeface="Calibri"/>
              </a:rPr>
              <a:t>Расширяемость MVP без переработки модели данных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6459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698480" cy="73152"/>
          </a:xfrm>
          <a:prstGeom prst="rect">
            <a:avLst/>
          </a:prstGeom>
          <a:solidFill>
            <a:srgbClr val="3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54480" y="2240280"/>
            <a:ext cx="320040" cy="32004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Q1-Q2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0E360"/>
                </a:solidFill>
                <a:latin typeface="Calibri"/>
              </a:defRPr>
            </a:pPr>
            <a:r>
              <a:t>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2560320" cy="3200400"/>
          </a:xfrm>
          <a:prstGeom prst="roundRect">
            <a:avLst/>
          </a:prstGeom>
          <a:solidFill>
            <a:srgbClr val="154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256032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0E360"/>
                </a:solidFill>
                <a:latin typeface="Calibri"/>
              </a:defRPr>
            </a:pPr>
            <a:r>
              <a:t>ТЕКУЩИЙ ЭТАП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50E360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Регистрация и профили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50E360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Поиск менторов с фильтрами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50E360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Разовые сессии и подписки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50E360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Встроенный чат (текст)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50E360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Оплата через эквайринг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50E360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Админ-панель и верификация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2402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Q3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Release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834640"/>
            <a:ext cx="2560320" cy="32004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9718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Мобильная версия (свайп-формат)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Геймификация (достижения)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Фото/файлы в чате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3B82F6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Рекомендательный алгоритм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0" y="224028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Q4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Release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34640"/>
            <a:ext cx="2560320" cy="32004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9718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8B5CF6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Видеозвонки внутри платформы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8B5CF6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Программы лояльности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8B5CF6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Аналитика для менторов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8B5CF6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Реферальная программа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0" y="2240280"/>
            <a:ext cx="320040" cy="3200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2026+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96167"/>
                </a:solidFill>
                <a:latin typeface="Calibri"/>
              </a:defRPr>
            </a:pPr>
            <a:r>
              <a:t>Масштабирование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834640"/>
            <a:ext cx="2560320" cy="32004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20" y="29718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F96167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Расширение на СНГ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96167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Корпоративные тарифы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96167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AI-подбор менторов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F96167"/>
                </a:solidFill>
                <a:latin typeface="Calibri"/>
              </a:rPr>
              <a:t>●  </a:t>
            </a:r>
            <a:r>
              <a:rPr sz="1100">
                <a:solidFill>
                  <a:srgbClr val="E0E0E0"/>
                </a:solidFill>
                <a:latin typeface="Calibri"/>
              </a:rPr>
              <a:t>Микросервисная архитектура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Бизнес-модель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01168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Модели монетизации: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1828800"/>
          </a:xfrm>
          <a:prstGeom prst="roundRect">
            <a:avLst/>
          </a:prstGeom>
          <a:solidFill>
            <a:srgbClr val="15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Разовая оплата за консультацию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Менти оплачивает каждую сессию отдельно. Платформа получает комиссию с каждой транзакции. Подходит для пользователей с разовым запросом.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303520" cy="1828800"/>
          </a:xfrm>
          <a:prstGeom prst="round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Подписочная модель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43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Менти подписывается на ментора с фиксированным количеством сессий в месяц. Обеспечивает стабильный доход менторам и удержание пользователей.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Воронка продвижения (CDJ):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Триггер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Реклама, соцсети, ВУЗы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1901952"/>
            <a:ext cx="137160" cy="13716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Первичный выбор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Лендинг, бесплатный тест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5603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1455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Активный поиск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1455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Каталог, рекомендации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3218688"/>
            <a:ext cx="137160" cy="13716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8039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Покупка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8039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Оплата, удобный UX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877056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462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5. Использование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462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Личный кабинет, чат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4535424"/>
            <a:ext cx="137160" cy="13716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6. Повторная покупка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Скидки, лояльность</a:t>
            </a:r>
          </a:p>
        </p:txBody>
      </p:sp>
      <p:sp>
        <p:nvSpPr>
          <p:cNvPr id="29" name="Oval 28"/>
          <p:cNvSpPr/>
          <p:nvPr/>
        </p:nvSpPr>
        <p:spPr>
          <a:xfrm>
            <a:off x="6126480" y="5193792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5779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7. Адвокатирование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779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Calibri"/>
              </a:defRPr>
            </a:pPr>
            <a:r>
              <a:t>Рефералы, отзывы</a:t>
            </a:r>
          </a:p>
        </p:txBody>
      </p:sp>
      <p:sp>
        <p:nvSpPr>
          <p:cNvPr id="32" name="Oval 31"/>
          <p:cNvSpPr/>
          <p:nvPr/>
        </p:nvSpPr>
        <p:spPr>
          <a:xfrm>
            <a:off x="6126480" y="5852160"/>
            <a:ext cx="137160" cy="13716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Результаты тестирования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92608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50E360"/>
                </a:solidFill>
                <a:latin typeface="Arial Black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103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индивидуальных</a:t>
            </a:r>
            <a:br/>
            <a:r>
              <a:t>консультации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3B82F6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5661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консультаций</a:t>
            </a:r>
            <a:br/>
            <a:r>
              <a:t>с командами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E360"/>
                </a:solidFill>
                <a:latin typeface="Calibri"/>
              </a:defRPr>
            </a:pPr>
            <a:r>
              <a:t>Ключевые выводы: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50E360"/>
                </a:solidFill>
                <a:latin typeface="Calibri"/>
              </a:rPr>
              <a:t>●  </a:t>
            </a:r>
            <a:r>
              <a:rPr sz="1400">
                <a:solidFill>
                  <a:srgbClr val="FFFFFF"/>
                </a:solidFill>
                <a:latin typeface="Calibri"/>
              </a:rPr>
              <a:t>Менторы должны заранее знать тему и проблему менти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0E360"/>
                </a:solidFill>
                <a:latin typeface="Calibri"/>
              </a:rPr>
              <a:t>●  </a:t>
            </a:r>
            <a:r>
              <a:rPr sz="1400">
                <a:solidFill>
                  <a:srgbClr val="FFFFFF"/>
                </a:solidFill>
                <a:latin typeface="Calibri"/>
              </a:rPr>
              <a:t>30 минут недостаточно — новый стандарт: 1 час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0E360"/>
                </a:solidFill>
                <a:latin typeface="Calibri"/>
              </a:rPr>
              <a:t>●  </a:t>
            </a:r>
            <a:r>
              <a:rPr sz="1400">
                <a:solidFill>
                  <a:srgbClr val="FFFFFF"/>
                </a:solidFill>
                <a:latin typeface="Calibri"/>
              </a:rPr>
              <a:t>Два трека: профориентационный и проектный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0E360"/>
                </a:solidFill>
                <a:latin typeface="Calibri"/>
              </a:rPr>
              <a:t>●  </a:t>
            </a:r>
            <a:r>
              <a:rPr sz="1400">
                <a:solidFill>
                  <a:srgbClr val="FFFFFF"/>
                </a:solidFill>
                <a:latin typeface="Calibri"/>
              </a:rPr>
              <a:t>Геймификация с карточками экспертов (свайп-формат)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50E360"/>
                </a:solidFill>
                <a:latin typeface="Calibri"/>
              </a:rPr>
              <a:t>●  </a:t>
            </a:r>
            <a:r>
              <a:rPr sz="1400">
                <a:solidFill>
                  <a:srgbClr val="FFFFFF"/>
                </a:solidFill>
                <a:latin typeface="Calibri"/>
              </a:rPr>
              <a:t>Фильтрация по предпочтениям упрощает выбор ментора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Привлечённые менторы: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3566160" cy="146304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Бурьянова Наталья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Амбассадор СПАО «Ингосстрах»
Партнёр Б1 консалтинг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5074920"/>
            <a:ext cx="3566160" cy="146304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Абрамян Нарек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532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Бизнес-аналитик в Т-Банк
Ментор кейс-чемпионатов DANO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5074920"/>
            <a:ext cx="3566160" cy="146304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Давыденко Елизавета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532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alibri"/>
              </a:rPr>
              <a:t>HR-менеджер КРОК
Руководитель школы ИТ-Решений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Команда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116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2057400"/>
            <a:ext cx="914400" cy="91440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000" b="1">
                <a:solidFill>
                  <a:srgbClr val="0F0F3D"/>
                </a:solidFill>
              </a:rPr>
              <a:t>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Мошенко Артем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ББИ235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828800"/>
            <a:ext cx="20116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383280" y="20574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000" b="1">
                <a:solidFill>
                  <a:srgbClr val="0F0F3D"/>
                </a:solidFill>
              </a:rPr>
              <a:t>ИВ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Игнатова Вероника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ББИ235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828800"/>
            <a:ext cx="20116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69279" y="2057400"/>
            <a:ext cx="914400" cy="91440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000" b="1">
                <a:solidFill>
                  <a:srgbClr val="0F0F3D"/>
                </a:solidFill>
              </a:rPr>
              <a:t>МР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Малеванная Рената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ББИ235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20116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955279" y="20574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000" b="1">
                <a:solidFill>
                  <a:srgbClr val="0F0F3D"/>
                </a:solidFill>
              </a:rPr>
              <a:t>РД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Растяпин Данил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ББИ235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828800"/>
            <a:ext cx="2011680" cy="2286000"/>
          </a:xfrm>
          <a:prstGeom prst="roundRect">
            <a:avLst/>
          </a:prstGeom>
          <a:solidFill>
            <a:srgbClr val="1E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241280" y="2057400"/>
            <a:ext cx="914400" cy="914400"/>
          </a:xfrm>
          <a:prstGeom prst="ellipse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000" b="1">
                <a:solidFill>
                  <a:srgbClr val="0F0F3D"/>
                </a:solidFill>
              </a:rPr>
              <a:t>ПГ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Плаксин Глеб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Calibri"/>
              </a:defRPr>
            </a:pPr>
            <a:r>
              <a:t>ББИ235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Calibri"/>
              </a:defRPr>
            </a:pPr>
            <a:r>
              <a:t>НИУ «Высшая школа экономики»  ·  Направление 38.03.05 «Бизнес-информатика»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120640"/>
            <a:ext cx="8503920" cy="1097280"/>
          </a:xfrm>
          <a:prstGeom prst="roundRect">
            <a:avLst/>
          </a:prstGeom>
          <a:solidFill>
            <a:srgbClr val="15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03120" y="5212080"/>
            <a:ext cx="7955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Наша миссия — создать единую платформу, которая объединит профессионалов и тех, кому нужна помощь в карьерном развитии, и сделает менторство доступным для каждого.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00" y="0"/>
            <a:ext cx="2133295" cy="6858000"/>
          </a:xfrm>
          <a:prstGeom prst="rect">
            <a:avLst/>
          </a:prstGeom>
          <a:solidFill>
            <a:srgbClr val="1A1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 Black"/>
              </a:defRPr>
            </a:pPr>
            <a:r>
              <a:t>Спасибо!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49039"/>
            <a:ext cx="2286000" cy="54864"/>
          </a:xfrm>
          <a:prstGeom prst="rect">
            <a:avLst/>
          </a:prstGeom>
          <a:solidFill>
            <a:srgbClr val="50E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E0E0"/>
                </a:solidFill>
                <a:latin typeface="Calibri"/>
              </a:defRPr>
            </a:pPr>
            <a:r>
              <a:t>Готовы ответить на ваши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Calibri"/>
              </a:defRPr>
            </a:pPr>
            <a:r>
              <a:t>Mentory — платформа для подбора менторов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"/>
              </a:defRPr>
            </a:pPr>
            <a:r>
              <a:t>НИУ ВШЭ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1777</Words>
  <Application>Microsoft Macintosh PowerPoint</Application>
  <PresentationFormat>Widescreen</PresentationFormat>
  <Paragraphs>319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Растяпин Данил Алексеевич</cp:lastModifiedBy>
  <cp:revision>2</cp:revision>
  <dcterms:created xsi:type="dcterms:W3CDTF">2013-01-27T09:14:16Z</dcterms:created>
  <dcterms:modified xsi:type="dcterms:W3CDTF">2026-03-21T23:59:41Z</dcterms:modified>
  <cp:category/>
</cp:coreProperties>
</file>