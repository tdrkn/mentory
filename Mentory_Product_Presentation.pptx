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C39A"/>
                </a:solidFill>
                <a:latin typeface="Calibri"/>
              </a:defRPr>
            </a:pPr>
            <a:r>
              <a:t>MENTORY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Платформа для подбора</a:t>
            </a:r>
            <a:br/>
            <a:r>
              <a:t>менторов и онлайн-консультаций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Единое пространство для карьерного развития —</a:t>
            </a:r>
            <a:br/>
            <a:r>
              <a:t>от первой консультации до профессионального роста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2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Продуктовая презентация  · 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1F2E"/>
                </a:solidFill>
                <a:latin typeface="Georgia"/>
              </a:defRPr>
            </a:pPr>
            <a:r>
              <a:t>Менторство в России — без единой платформы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8090"/>
                </a:solidFill>
                <a:latin typeface="Calibri"/>
              </a:defRPr>
            </a:pPr>
            <a:r>
              <a:t>29,2%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студентов уже имеют опыт</a:t>
            </a:r>
            <a:br/>
            <a:r>
              <a:t>участия в менторинге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A896"/>
                </a:solidFill>
                <a:latin typeface="Calibri"/>
              </a:defRPr>
            </a:pPr>
            <a:r>
              <a:t>20,8%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65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планируют присоединиться</a:t>
            </a:r>
            <a:br/>
            <a:r>
              <a:t>к менторским программам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14D4D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цифровых платформ на</a:t>
            </a:r>
            <a:br/>
            <a:r>
              <a:t>русскоязычном рынке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786384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54864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0632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Разрозненность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375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Менторство реализуется через отдельные инициативы вузов и сообществ — нет единой точки входа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88036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880360"/>
            <a:ext cx="54864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0" y="30632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Ограниченный доступ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3375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Масштабируемость и доступность формата ограничены для широкого круга заинтересованных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80360"/>
            <a:ext cx="25603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80360"/>
            <a:ext cx="54864" cy="1737360"/>
          </a:xfrm>
          <a:prstGeom prst="rect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3063240"/>
            <a:ext cx="457200" cy="457200"/>
          </a:xfrm>
          <a:prstGeom prst="ellipse">
            <a:avLst/>
          </a:prstGeom>
          <a:solidFill>
            <a:srgbClr val="E1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175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Нет цифровой среды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33756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Отсутствуют платформы для организации взаимодействий: поиск, коммуникация, проведение консультаций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3840480" cy="5088636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C39A"/>
                </a:solidFill>
                <a:latin typeface="Calibri"/>
              </a:defRPr>
            </a:pPr>
            <a: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Mentory —</a:t>
            </a:r>
            <a:br/>
            <a:r>
              <a:t>ваш карьерный</a:t>
            </a:r>
            <a:br/>
            <a:r>
              <a:t>навигатор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Веб-платформа для подбора наставников и проведения онлайн-консультаций между пользователями с запросом и специалистами с практическим опытом.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3657600"/>
            <a:ext cx="1097280" cy="10972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9319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MVP</a:t>
            </a:r>
          </a:p>
        </p:txBody>
      </p:sp>
      <p:sp>
        <p:nvSpPr>
          <p:cNvPr id="9" name="Oval 8"/>
          <p:cNvSpPr/>
          <p:nvPr/>
        </p:nvSpPr>
        <p:spPr>
          <a:xfrm>
            <a:off x="4206240" y="36576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20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Поиск менторов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6126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По критериям: стаж, компания, специализация, цели — фильтры и поисковая строка</a:t>
            </a:r>
          </a:p>
        </p:txBody>
      </p:sp>
      <p:sp>
        <p:nvSpPr>
          <p:cNvPr id="12" name="Oval 11"/>
          <p:cNvSpPr/>
          <p:nvPr/>
        </p:nvSpPr>
        <p:spPr>
          <a:xfrm>
            <a:off x="4206240" y="128016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234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Онлайн-консультации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5270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Чат и видеозвонки прямо на платформе — без сторонних сервисов</a:t>
            </a:r>
          </a:p>
        </p:txBody>
      </p:sp>
      <p:sp>
        <p:nvSpPr>
          <p:cNvPr id="15" name="Oval 14"/>
          <p:cNvSpPr/>
          <p:nvPr/>
        </p:nvSpPr>
        <p:spPr>
          <a:xfrm>
            <a:off x="4206240" y="219456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48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Гибкая оплата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414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Разовая сессия или подписка с фикс. количеством консультаций в месяц</a:t>
            </a:r>
          </a:p>
        </p:txBody>
      </p:sp>
      <p:sp>
        <p:nvSpPr>
          <p:cNvPr id="18" name="Oval 17"/>
          <p:cNvSpPr/>
          <p:nvPr/>
        </p:nvSpPr>
        <p:spPr>
          <a:xfrm>
            <a:off x="4206240" y="310896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063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Профили и рейтинги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5584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Структурированные профили, отзывы, верификация регалий менторов</a:t>
            </a:r>
          </a:p>
        </p:txBody>
      </p:sp>
      <p:sp>
        <p:nvSpPr>
          <p:cNvPr id="21" name="Oval 20"/>
          <p:cNvSpPr/>
          <p:nvPr/>
        </p:nvSpPr>
        <p:spPr>
          <a:xfrm>
            <a:off x="4206240" y="4023359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9776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Управление расписанием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270247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Гибкий календарь сессий, бронирование слотов, уведомления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  <a:latin typeface="Calibri"/>
              </a:defRPr>
            </a:pPr>
            <a:r>
              <a:t>ЦЕЛЕВАЯ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1F2E"/>
                </a:solidFill>
                <a:latin typeface="Georgia"/>
              </a:defRPr>
            </a:pPr>
            <a:r>
              <a:t>Три ключевых стейкхолдера платформы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Менти  (клиенты)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05740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F2E"/>
                </a:solidFill>
                <a:latin typeface="Calibri"/>
              </a:defRPr>
            </a:pPr>
            <a:r>
              <a:t>Молодые специалисты и студенты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Не могут трудоустроиться, сталкиваются с низким уровнем оплаты или перенасыщенностью рынка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2608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986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F2E"/>
                </a:solidFill>
                <a:latin typeface="Calibri"/>
              </a:defRPr>
            </a:pPr>
            <a:r>
              <a:t>Специалисты с опытом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Не удовлетворены текущей позицией, рассматривают смену профессиональной области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79476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673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1F2E"/>
                </a:solidFill>
                <a:latin typeface="Calibri"/>
              </a:defRPr>
            </a:pPr>
            <a:r>
              <a:t>С определенной траекторией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050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Чётко понимают цели, планируют поэтапное развитие, заинтересованы в регулярной поддержке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371600"/>
            <a:ext cx="3931920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Менторы  (эксперты)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0116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Предоставляют консультационные услуги, делятся практическим опытом и формируют ценность продукта для конечных пользователей. Получают денежное вознаграждение.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200400"/>
            <a:ext cx="39319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200400"/>
            <a:ext cx="393192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3246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Администраторы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840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Управление пользователями, модерация контента и профилей, контроль корректности взаимодействий. Обеспечивают стабильную работу системы.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  <a:latin typeface="Calibri"/>
              </a:defRPr>
            </a:pPr>
            <a:r>
              <a:t>ПУТЬ ПОЛЬЗОВАТЕЛЯ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2E"/>
                </a:solidFill>
                <a:latin typeface="Georgia"/>
              </a:defRPr>
            </a:pPr>
            <a:r>
              <a:t>Как менти находит ментора и получает консультацию</a:t>
            </a:r>
          </a:p>
        </p:txBody>
      </p:sp>
      <p:sp>
        <p:nvSpPr>
          <p:cNvPr id="5" name="Oval 4"/>
          <p:cNvSpPr/>
          <p:nvPr/>
        </p:nvSpPr>
        <p:spPr>
          <a:xfrm>
            <a:off x="667512" y="12801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1481328"/>
            <a:ext cx="35661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2E"/>
                </a:solidFill>
                <a:latin typeface="Calibri"/>
              </a:defRPr>
            </a:pPr>
            <a:r>
              <a:t>Регистрация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Создание аккаунта</a:t>
            </a:r>
            <a:br/>
            <a:r>
              <a:t>и заполнение</a:t>
            </a:r>
            <a:br/>
            <a:r>
              <a:t>профиля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12801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481328"/>
            <a:ext cx="35661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7048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2E"/>
                </a:solidFill>
                <a:latin typeface="Calibri"/>
              </a:defRPr>
            </a:pPr>
            <a:r>
              <a:t>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1031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Фильтры по навыкам,</a:t>
            </a:r>
            <a:br/>
            <a:r>
              <a:t>цене, рейтингу</a:t>
            </a:r>
            <a:br/>
            <a:r>
              <a:t>и сфере</a:t>
            </a:r>
          </a:p>
        </p:txBody>
      </p:sp>
      <p:sp>
        <p:nvSpPr>
          <p:cNvPr id="13" name="Oval 12"/>
          <p:cNvSpPr/>
          <p:nvPr/>
        </p:nvSpPr>
        <p:spPr>
          <a:xfrm>
            <a:off x="2990088" y="12801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1481328"/>
            <a:ext cx="35661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2E"/>
                </a:solidFill>
                <a:latin typeface="Calibri"/>
              </a:defRPr>
            </a:pPr>
            <a:r>
              <a:t>Профиль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1031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Изучение профиля</a:t>
            </a:r>
            <a:br/>
            <a:r>
              <a:t>ментора, отзывов</a:t>
            </a:r>
            <a:br/>
            <a:r>
              <a:t>и регалий</a:t>
            </a:r>
          </a:p>
        </p:txBody>
      </p:sp>
      <p:sp>
        <p:nvSpPr>
          <p:cNvPr id="17" name="Oval 16"/>
          <p:cNvSpPr/>
          <p:nvPr/>
        </p:nvSpPr>
        <p:spPr>
          <a:xfrm>
            <a:off x="4151376" y="12801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1481328"/>
            <a:ext cx="35661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9624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2E"/>
                </a:solidFill>
                <a:latin typeface="Calibri"/>
              </a:defRPr>
            </a:pPr>
            <a:r>
              <a:t>Запись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21031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Выбор формата:</a:t>
            </a:r>
            <a:br/>
            <a:r>
              <a:t>разовая сессия</a:t>
            </a:r>
            <a:br/>
            <a:r>
              <a:t>или подписка</a:t>
            </a:r>
          </a:p>
        </p:txBody>
      </p:sp>
      <p:sp>
        <p:nvSpPr>
          <p:cNvPr id="21" name="Oval 20"/>
          <p:cNvSpPr/>
          <p:nvPr/>
        </p:nvSpPr>
        <p:spPr>
          <a:xfrm>
            <a:off x="5312664" y="12801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5584" y="1481328"/>
            <a:ext cx="35661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2E"/>
                </a:solidFill>
                <a:latin typeface="Calibri"/>
              </a:defRPr>
            </a:pPr>
            <a:r>
              <a:t>Оплата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21031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СБП или карта,</a:t>
            </a:r>
            <a:br/>
            <a:r>
              <a:t>чек на почту,</a:t>
            </a:r>
            <a:br/>
            <a:r>
              <a:t>защита от дублей</a:t>
            </a:r>
          </a:p>
        </p:txBody>
      </p:sp>
      <p:sp>
        <p:nvSpPr>
          <p:cNvPr id="25" name="Oval 24"/>
          <p:cNvSpPr/>
          <p:nvPr/>
        </p:nvSpPr>
        <p:spPr>
          <a:xfrm>
            <a:off x="6473952" y="12801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6872" y="1481328"/>
            <a:ext cx="35661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2E"/>
                </a:solidFill>
                <a:latin typeface="Calibri"/>
              </a:defRPr>
            </a:pPr>
            <a:r>
              <a:t>Консультация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1031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Чат или</a:t>
            </a:r>
            <a:br/>
            <a:r>
              <a:t>видеозвонок</a:t>
            </a:r>
            <a:br/>
            <a:r>
              <a:t>на платформе</a:t>
            </a:r>
          </a:p>
        </p:txBody>
      </p:sp>
      <p:sp>
        <p:nvSpPr>
          <p:cNvPr id="29" name="Oval 28"/>
          <p:cNvSpPr/>
          <p:nvPr/>
        </p:nvSpPr>
        <p:spPr>
          <a:xfrm>
            <a:off x="7635240" y="12801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33488" y="18288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F2E"/>
                </a:solidFill>
                <a:latin typeface="Calibri"/>
              </a:defRPr>
            </a:pPr>
            <a:r>
              <a:t>Отзыв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21031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Рейтинг 1-5</a:t>
            </a:r>
            <a:br/>
            <a:r>
              <a:t>и комментарий</a:t>
            </a:r>
            <a:br/>
            <a:r>
              <a:t>о менторе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E8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566160"/>
            <a:ext cx="54864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657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1F2E"/>
                </a:solidFill>
                <a:latin typeface="Calibri"/>
              </a:defRPr>
            </a:pPr>
            <a:r>
              <a:t>Ключевые User Stories (MVP)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9776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US1: Регистрация и вход  ·  US2: Заполнение профиля  ·  US3: Чат  ·  US4: Видеосвязь  ·  US5: Поиск менторов  ·  US6: Профиль ментора  ·  US7: Запись на сессию  ·  US8: Оплата  ·  US9: Отзыв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C39A"/>
                </a:solidFill>
                <a:latin typeface="Calibri"/>
              </a:defRPr>
            </a:pPr>
            <a:r>
              <a:t>ДЛЯ МЕНТОРОВ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Инструменты для профессиональной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12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0604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Управление</a:t>
            </a:r>
            <a:br/>
            <a:r>
              <a:t>тарифами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Установка стоимости для разных форматов: разовая сессия или подписка. Гибкое ценообразование.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06040" cy="1554480"/>
          </a:xfrm>
          <a:prstGeom prst="rect">
            <a:avLst/>
          </a:prstGeom>
          <a:solidFill>
            <a:srgbClr val="12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60604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Заявки и</a:t>
            </a:r>
            <a:br/>
            <a:r>
              <a:t>подтверждения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Просмотр заявок от менти, информация о клиенте, цели и мотивация. Одобрение / отклонение.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06040" cy="1554480"/>
          </a:xfrm>
          <a:prstGeom prst="rect">
            <a:avLst/>
          </a:prstGeom>
          <a:solidFill>
            <a:srgbClr val="12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60604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Календарь</a:t>
            </a:r>
            <a:br/>
            <a:r>
              <a:t>сессий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Добавление доступных слотов, автоматическое бронирование, список предстоящих встреч.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2606040" cy="1554480"/>
          </a:xfrm>
          <a:prstGeom prst="rect">
            <a:avLst/>
          </a:prstGeom>
          <a:solidFill>
            <a:srgbClr val="12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2606040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Получение</a:t>
            </a:r>
            <a:br/>
            <a:r>
              <a:t>оплаты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Автоматическое начисление после 5 рабочих дней без жалоб. Вывод на банковский счёт.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108960"/>
            <a:ext cx="2606040" cy="1554480"/>
          </a:xfrm>
          <a:prstGeom prst="rect">
            <a:avLst/>
          </a:prstGeom>
          <a:solidFill>
            <a:srgbClr val="12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108960"/>
            <a:ext cx="2606040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2918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Верификация</a:t>
            </a:r>
            <a:br/>
            <a:r>
              <a:t>регалий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Загрузка документов в PDF, проверка администратором, бейдж «Верифицирован».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108960"/>
            <a:ext cx="2606040" cy="1554480"/>
          </a:xfrm>
          <a:prstGeom prst="rect">
            <a:avLst/>
          </a:prstGeom>
          <a:solidFill>
            <a:srgbClr val="12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108960"/>
            <a:ext cx="2606040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29184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Профиль и</a:t>
            </a:r>
            <a:br/>
            <a:r>
              <a:t>рейтинг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9476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Публичный профиль с навыками, достижениями. Рейтинг на основе отзывов менти.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  <a:latin typeface="Calibri"/>
              </a:defRPr>
            </a:pPr>
            <a: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1F2E"/>
                </a:solidFill>
                <a:latin typeface="Georgia"/>
              </a:defRPr>
            </a:pPr>
            <a:r>
              <a:t>Два формата монетизации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93192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Разовая сессия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86000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Оплата за каждую консультацию отдельно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24912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79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Менти выбирает слот и формат (чат / видео)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63824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181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Оплата через СБП или банковскую карту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02736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Автоматическое подтверждение после оплаты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41648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95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Комиссия платформы с каждой транзакции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417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Подписка</a:t>
            </a:r>
          </a:p>
        </p:txBody>
      </p:sp>
      <p:sp>
        <p:nvSpPr>
          <p:cNvPr id="21" name="Oval 20"/>
          <p:cNvSpPr/>
          <p:nvPr/>
        </p:nvSpPr>
        <p:spPr>
          <a:xfrm>
            <a:off x="5074920" y="2286000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Фиксированное кол-во консультаций в месяц</a:t>
            </a:r>
          </a:p>
        </p:txBody>
      </p:sp>
      <p:sp>
        <p:nvSpPr>
          <p:cNvPr id="23" name="Oval 22"/>
          <p:cNvSpPr/>
          <p:nvPr/>
        </p:nvSpPr>
        <p:spPr>
          <a:xfrm>
            <a:off x="5074920" y="272491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679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Менти подает заявку с указанием цели</a:t>
            </a:r>
          </a:p>
        </p:txBody>
      </p:sp>
      <p:sp>
        <p:nvSpPr>
          <p:cNvPr id="25" name="Oval 24"/>
          <p:cNvSpPr/>
          <p:nvPr/>
        </p:nvSpPr>
        <p:spPr>
          <a:xfrm>
            <a:off x="5074920" y="3163824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31181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Ментор одобряет или отклоняет заявку</a:t>
            </a:r>
          </a:p>
        </p:txBody>
      </p:sp>
      <p:sp>
        <p:nvSpPr>
          <p:cNvPr id="27" name="Oval 26"/>
          <p:cNvSpPr/>
          <p:nvPr/>
        </p:nvSpPr>
        <p:spPr>
          <a:xfrm>
            <a:off x="5074920" y="3602736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35570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Информация о цене и сроках видна заранее</a:t>
            </a:r>
          </a:p>
        </p:txBody>
      </p:sp>
      <p:sp>
        <p:nvSpPr>
          <p:cNvPr id="29" name="Oval 28"/>
          <p:cNvSpPr/>
          <p:nvPr/>
        </p:nvSpPr>
        <p:spPr>
          <a:xfrm>
            <a:off x="5074920" y="4041648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3995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A1F2E"/>
                </a:solidFill>
                <a:latin typeface="Calibri"/>
              </a:defRPr>
            </a:pPr>
            <a:r>
              <a:t>Статусы: awaiting_payment / confirmed / canceled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  <a:latin typeface="Calibri"/>
              </a:defRPr>
            </a:pPr>
            <a: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1F2E"/>
                </a:solidFill>
                <a:latin typeface="Georgia"/>
              </a:defRPr>
            </a:pPr>
            <a:r>
              <a:t>Микросервисная веб-платформа (MVP)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2E"/>
                </a:solidFill>
                <a:latin typeface="Calibri"/>
              </a:defRPr>
            </a:pPr>
            <a:r>
              <a:t>Микросервисы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Calibri"/>
              </a:defRPr>
            </a:pPr>
            <a:r>
              <a:t>Независимые сервисы для масштабируемости и отказоустойчивости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606040" cy="1554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2E"/>
                </a:solidFill>
                <a:latin typeface="Calibri"/>
              </a:defRPr>
            </a:pPr>
            <a:r>
              <a:t>3 роли доступа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Calibri"/>
              </a:defRPr>
            </a:pPr>
            <a:r>
              <a:t>Менти, Ментор, Администратор — разделение прав и интерфейсов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2606040" cy="1554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54864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2E"/>
                </a:solidFill>
                <a:latin typeface="Calibri"/>
              </a:defRPr>
            </a:pPr>
            <a:r>
              <a:t>Эквайринг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Calibri"/>
              </a:defRPr>
            </a:pPr>
            <a:r>
              <a:t>Интеграция с платёжной системой: СБП, карты, защита от дублей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2E"/>
                </a:solidFill>
                <a:latin typeface="Calibri"/>
              </a:defRPr>
            </a:pPr>
            <a:r>
              <a:t>Чат и видео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Calibri"/>
              </a:defRPr>
            </a:pPr>
            <a:r>
              <a:t>Встроенная коммуникация между менти и ментором на платформе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017520"/>
            <a:ext cx="2606040" cy="1554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017520"/>
            <a:ext cx="54864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2E"/>
                </a:solidFill>
                <a:latin typeface="Calibri"/>
              </a:defRPr>
            </a:pPr>
            <a:r>
              <a:t>Модерация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Calibri"/>
              </a:defRPr>
            </a:pPr>
            <a:r>
              <a:t>Контроль контента, верификация документов, обработка жалоб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017520"/>
            <a:ext cx="2606040" cy="155448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017520"/>
            <a:ext cx="54864" cy="1554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F2E"/>
                </a:solidFill>
                <a:latin typeface="Calibri"/>
              </a:defRPr>
            </a:pPr>
            <a:r>
              <a:t>Логирование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566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Calibri"/>
              </a:defRPr>
            </a:pPr>
            <a:r>
              <a:t>Все действия администратора и системы фиксируются в журнале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C39A"/>
                </a:solidFill>
                <a:latin typeface="Calibri"/>
              </a:defRPr>
            </a:pPr>
            <a:r>
              <a:t>ГРАНИЦЫ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Что входит в первый релиз и что планируется дальше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167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MVP  ·  Первый релиз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Регистрация и авторизация (email)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585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Профили менти и менторов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Поиск менторов по критериям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352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Запись на разовую сессию и подписку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73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Оплата через эквайринг (СБП / карта)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Чат между менти и ментором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502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Видеозвонки (ссылка на сессию)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885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885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Отзывы и рейтинги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2686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C39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268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Calibri"/>
              </a:defRPr>
            </a:pPr>
            <a:r>
              <a:t>Админ: модерация, жалобы, верификация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13167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Release  ·  Следующие версии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Напоминания о сессиях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25856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2585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История прошедших сессий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259689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Встроенный инструмент видеозвонков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29352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9352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Сохранение в избранное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27355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273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Финансовая аналитика для менторов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Журнал действий пользователей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9502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Расширенное редактирование профилей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2885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2885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Аналитика активности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C39A"/>
                </a:solidFill>
                <a:latin typeface="Calibri"/>
              </a:defRPr>
            </a:pPr>
            <a:r>
              <a:t>MENTORY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Georgia"/>
              </a:defRPr>
            </a:pPr>
            <a:r>
              <a:t>Карьерное менторство</a:t>
            </a:r>
            <a:br/>
            <a:r>
              <a:t>без границ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Первая русскоязычная платформа, объединяющая менторов</a:t>
            </a:r>
            <a:br/>
            <a:r>
              <a:t>и тех, кто ищет профессиональную поддержку — в одном месте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474720"/>
            <a:ext cx="1463040" cy="274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7490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НИУ ВШЭ  ·  Бизнес-информатика  ·  ББИ235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Мошенко А.  ·  Игнатова В.  ·  Малеванная Р.  ·  Растяпин Д.  ·  Плаксин 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Москва,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